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965f25933c4fc3" /><Relationship Type="http://schemas.openxmlformats.org/officeDocument/2006/relationships/extended-properties" Target="/docProps/app.xml" Id="R4a10a52b17a14e7f" /><Relationship Type="http://schemas.openxmlformats.org/officeDocument/2006/relationships/officeDocument" Target="/ppt/presentation.xml" Id="R8210a3cb4b1343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b8035b05664543"/>
  </p:sldMasterIdLst>
  <p:notesMasterIdLst>
    <p:notesMasterId xmlns:r="http://schemas.openxmlformats.org/officeDocument/2006/relationships" r:id="R3e9859c1cbbd4392"/>
  </p:notesMasterIdLst>
  <p:sldIdLst>
    <p:sldId xmlns:r="http://schemas.openxmlformats.org/officeDocument/2006/relationships" id="256" r:id="R3d961203576545b3"/>
    <p:sldId xmlns:r="http://schemas.openxmlformats.org/officeDocument/2006/relationships" id="257" r:id="R18946ea3eef6487a"/>
    <p:sldId xmlns:r="http://schemas.openxmlformats.org/officeDocument/2006/relationships" id="258" r:id="Re8a904cf28234ec6"/>
    <p:sldId xmlns:r="http://schemas.openxmlformats.org/officeDocument/2006/relationships" id="259" r:id="Racd4a58b1f9740a8"/>
    <p:sldId xmlns:r="http://schemas.openxmlformats.org/officeDocument/2006/relationships" id="260" r:id="Rf5b883bb442c4289"/>
    <p:sldId xmlns:r="http://schemas.openxmlformats.org/officeDocument/2006/relationships" id="261" r:id="R967b330c3974481b"/>
    <p:sldId xmlns:r="http://schemas.openxmlformats.org/officeDocument/2006/relationships" id="262" r:id="R543a2e9fe4654773"/>
    <p:sldId xmlns:r="http://schemas.openxmlformats.org/officeDocument/2006/relationships" id="263" r:id="R1694866165e84240"/>
    <p:sldId xmlns:r="http://schemas.openxmlformats.org/officeDocument/2006/relationships" id="264" r:id="R3de8de7f1f7f4184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e2774c92914bc5" /><Relationship Type="http://schemas.openxmlformats.org/officeDocument/2006/relationships/slideMaster" Target="/ppt/slideMasters/slideMaster1.xml" Id="Rfbb8035b05664543" /><Relationship Type="http://schemas.openxmlformats.org/officeDocument/2006/relationships/notesMaster" Target="/ppt/notesMasters/notesMaster1.xml" Id="R3e9859c1cbbd4392" /><Relationship Type="http://schemas.openxmlformats.org/officeDocument/2006/relationships/presProps" Target="/ppt/presProps.xml" Id="R98c90c9d939249bd" /><Relationship Type="http://schemas.openxmlformats.org/officeDocument/2006/relationships/tableStyles" Target="/ppt/tableStyles.xml" Id="Rffd71a064f554819" /><Relationship Type="http://schemas.openxmlformats.org/officeDocument/2006/relationships/slide" Target="/ppt/slides/slide1.xml" Id="R3d961203576545b3" /><Relationship Type="http://schemas.openxmlformats.org/officeDocument/2006/relationships/slide" Target="/ppt/slides/slide2.xml" Id="R18946ea3eef6487a" /><Relationship Type="http://schemas.openxmlformats.org/officeDocument/2006/relationships/slide" Target="/ppt/slides/slide3.xml" Id="Re8a904cf28234ec6" /><Relationship Type="http://schemas.openxmlformats.org/officeDocument/2006/relationships/slide" Target="/ppt/slides/slide4.xml" Id="Racd4a58b1f9740a8" /><Relationship Type="http://schemas.openxmlformats.org/officeDocument/2006/relationships/slide" Target="/ppt/slides/slide5.xml" Id="Rf5b883bb442c4289" /><Relationship Type="http://schemas.openxmlformats.org/officeDocument/2006/relationships/slide" Target="/ppt/slides/slide6.xml" Id="R967b330c3974481b" /><Relationship Type="http://schemas.openxmlformats.org/officeDocument/2006/relationships/slide" Target="/ppt/slides/slide7.xml" Id="R543a2e9fe4654773" /><Relationship Type="http://schemas.openxmlformats.org/officeDocument/2006/relationships/slide" Target="/ppt/slides/slide8.xml" Id="R1694866165e84240" /><Relationship Type="http://schemas.openxmlformats.org/officeDocument/2006/relationships/slide" Target="/ppt/slides/slide9.xml" Id="R3de8de7f1f7f41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6059d0ae9944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2a8ae1f6b6453c" /><Relationship Type="http://schemas.openxmlformats.org/officeDocument/2006/relationships/notesMaster" Target="/ppt/notesMasters/notesMaster1.xml" Id="R5fdee195f09847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40948e228b4358" /><Relationship Type="http://schemas.openxmlformats.org/officeDocument/2006/relationships/notesMaster" Target="/ppt/notesMasters/notesMaster1.xml" Id="R94a2881c3ff648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e67fb0342248f0" /><Relationship Type="http://schemas.openxmlformats.org/officeDocument/2006/relationships/notesMaster" Target="/ppt/notesMasters/notesMaster1.xml" Id="R9acb9916d54947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a65db5e2dd4801" /><Relationship Type="http://schemas.openxmlformats.org/officeDocument/2006/relationships/notesMaster" Target="/ppt/notesMasters/notesMaster1.xml" Id="R3b21b5478e6e4d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451dbcead34e83" /><Relationship Type="http://schemas.openxmlformats.org/officeDocument/2006/relationships/notesMaster" Target="/ppt/notesMasters/notesMaster1.xml" Id="R16e1f0d8850f48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84f9dba92e4bf0" /><Relationship Type="http://schemas.openxmlformats.org/officeDocument/2006/relationships/notesMaster" Target="/ppt/notesMasters/notesMaster1.xml" Id="R53429ba784a04e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4480d9f4b6465d" /><Relationship Type="http://schemas.openxmlformats.org/officeDocument/2006/relationships/notesMaster" Target="/ppt/notesMasters/notesMaster1.xml" Id="Ra810d9edf1e048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d54de111f6435c" /><Relationship Type="http://schemas.openxmlformats.org/officeDocument/2006/relationships/notesMaster" Target="/ppt/notesMasters/notesMaster1.xml" Id="R5e67386156b341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46aa1dc57f415b" /><Relationship Type="http://schemas.openxmlformats.org/officeDocument/2006/relationships/notesMaster" Target="/ppt/notesMasters/notesMaster1.xml" Id="R6bcbed7f463040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basado en el guion del vídeo proporcionado por el usuario. Portada del carrusel.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basado en el guion del vídeo proporcionado por el usuario. Resume los tres formatos nativos mostrados en el vídeo.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basado en el guion del vídeo proporcionado por el usuario. Objeto normalizado simplificado para explicar la frontera del proveedor.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basado en el guion del vídeo proporcionado por el usuario. Ejemplo de dos llamadas iguales que solo se distinguen por su identificador.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basado en el guion del vídeo proporcionado por el usuario. Ejemplo de argumentos JSON divididos entre dos lecturas de 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basado en el guion del vídeo proporcionado por el usuario. Algoritmo simplificado del parser de streaming.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basado en el guion del vídeo proporcionado por el usuario. El vídeo muestra cómo un reintento puede guardar una medición dos veces.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basado en el guion del vídeo proporcionado por el usuario. Distingue la comunicación de un fallo de tool y de un fallo del proveedor.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basado en el guion del vídeo proporcionado por el usuario. Cierre y llamada a ver el vídeo completo desde el enlace de la publicación.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b8211fef0741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dcbd1d052d46a7" /><Relationship Type="http://schemas.openxmlformats.org/officeDocument/2006/relationships/slideLayout" Target="/ppt/slideLayouts/slideLayout1.xml" Id="Rbf063ef5c5794c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063ef5c5794c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4dd1df25b4762" /><Relationship Type="http://schemas.openxmlformats.org/officeDocument/2006/relationships/notesSlide" Target="/ppt/notesSlides/notesSlide1.xml" Id="R7c459473e4e842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3705c92ca4dfc" /><Relationship Type="http://schemas.openxmlformats.org/officeDocument/2006/relationships/notesSlide" Target="/ppt/notesSlides/notesSlide2.xml" Id="R137b502165f244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c915723cc4fdd" /><Relationship Type="http://schemas.openxmlformats.org/officeDocument/2006/relationships/notesSlide" Target="/ppt/notesSlides/notesSlide3.xml" Id="Rd52adfbdca2f4a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6ca36c85e4fb0" /><Relationship Type="http://schemas.openxmlformats.org/officeDocument/2006/relationships/notesSlide" Target="/ppt/notesSlides/notesSlide4.xml" Id="R03c557afe19840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17881cd544d53" /><Relationship Type="http://schemas.openxmlformats.org/officeDocument/2006/relationships/notesSlide" Target="/ppt/notesSlides/notesSlide5.xml" Id="R404fdd61dd7944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7f3e983e2475c" /><Relationship Type="http://schemas.openxmlformats.org/officeDocument/2006/relationships/notesSlide" Target="/ppt/notesSlides/notesSlide6.xml" Id="R3ba9d652007743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23b64c25b4af2" /><Relationship Type="http://schemas.openxmlformats.org/officeDocument/2006/relationships/image" Target="/ppt/media/image.png" Id="R97c139014b1f4b0f" /><Relationship Type="http://schemas.openxmlformats.org/officeDocument/2006/relationships/notesSlide" Target="/ppt/notesSlides/notesSlide7.xml" Id="R3cc0faeabff549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d57cde7ef44aa" /><Relationship Type="http://schemas.openxmlformats.org/officeDocument/2006/relationships/notesSlide" Target="/ppt/notesSlides/notesSlide8.xml" Id="Rc1fa80ff0c3f48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5b1da29db4c5b" /><Relationship Type="http://schemas.openxmlformats.org/officeDocument/2006/relationships/notesSlide" Target="/ppt/notesSlides/notesSlide9.xml" Id="Rafc9b2b55a414a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83FBB-E7A0-4606-9251-D0C9562D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95375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C8FF00"/>
                </a:solidFill>
                <a:latin typeface="Menlo"/>
                <a:ea typeface="Menlo"/>
                <a:cs typeface="Menlo"/>
              </a:defRPr>
            </a:pPr>
            <a:r>
              <a:rPr sz="1950" b="1">
                <a:solidFill>
                  <a:srgbClr val="C8FF00"/>
                </a:solidFill>
                <a:latin typeface="Menlo"/>
                <a:ea typeface="Menlo"/>
                <a:cs typeface="Menlo"/>
              </a:rPr>
              <a:t>TOOL CALLING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BC5AB-A2AB-4380-858C-7E0BF4ED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8763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7800" b="1">
                <a:solidFill>
                  <a:srgbClr val="F7F7F5"/>
                </a:solidFill>
                <a:latin typeface="Arial Black"/>
                <a:ea typeface="Arial Black"/>
                <a:cs typeface="Arial Black"/>
              </a:defRPr>
            </a:pPr>
            <a:r>
              <a:rPr sz="7800" b="1">
                <a:solidFill>
                  <a:srgbClr val="F7F7F5"/>
                </a:solidFill>
                <a:latin typeface="Arial Black"/>
                <a:ea typeface="Arial Black"/>
                <a:cs typeface="Arial Black"/>
              </a:rPr>
              <a:t>Tres APIs,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7800" b="1">
                <a:solidFill>
                  <a:srgbClr val="F7F7F5"/>
                </a:solidFill>
                <a:latin typeface="Arial Black"/>
                <a:ea typeface="Arial Black"/>
                <a:cs typeface="Arial Black"/>
              </a:defRPr>
            </a:pPr>
            <a:r>
              <a:rPr sz="7800" b="1">
                <a:solidFill>
                  <a:srgbClr val="F7F7F5"/>
                </a:solidFill>
                <a:latin typeface="Arial Black"/>
                <a:ea typeface="Arial Black"/>
                <a:cs typeface="Arial Black"/>
              </a:rPr>
              <a:t>un solo </a:t>
            </a:r>
            <a:r>
              <a:rPr sz="7800" b="1">
                <a:solidFill>
                  <a:srgbClr val="C8FF00"/>
                </a:solidFill>
                <a:latin typeface="Arial Black"/>
                <a:ea typeface="Arial Black"/>
                <a:cs typeface="Arial Black"/>
              </a:rPr>
              <a:t>parser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904C4-EFEE-4BFA-A1D0-D9F88CD6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838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Cómo leer tool calls de OpenAI, Anthropic y Google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EB071-C9E7-4318-A3E5-0504D6FF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Gymnasia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Construyendo un agente real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9E690-531A-4542-A7A0-11837DC5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966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Desliza para ver dónde aparecen los bugs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6F713-42B6-4D13-AC39-7942CD7A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306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A1A1A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A1A1AA"/>
                </a:solidFill>
                <a:latin typeface="Menlo"/>
                <a:ea typeface="Menlo"/>
                <a:cs typeface="Menlo"/>
              </a:rPr>
              <a:t>01 / 09</a:t>
            </a:r>
          </a:p>
        </p:txBody>
      </p:sp>
    </p:spTree>
    <p:extLst>
      <p:ext uri="{BB962C8B-B14F-4D97-AF65-F5344CB8AC3E}">
        <p14:creationId xmlns:p14="http://schemas.microsoft.com/office/powerpoint/2010/main" val="9884544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842DD6-3301-47BF-9468-0174509E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343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11094-C9CA-4AF7-8B26-A802DAC3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C8FF00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C8FF00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E0F2D-9899-4FDC-BBDB-48277095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876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025" b="1">
                <a:solidFill>
                  <a:srgbClr val="F7F7F5"/>
                </a:solidFill>
                <a:latin typeface="Arial Black"/>
                <a:ea typeface="Arial Black"/>
                <a:cs typeface="Arial Black"/>
              </a:defRPr>
            </a:pPr>
            <a:r>
              <a:rPr sz="5025" b="1">
                <a:solidFill>
                  <a:srgbClr val="F7F7F5"/>
                </a:solidFill>
                <a:latin typeface="Arial Black"/>
                <a:ea typeface="Arial Black"/>
                <a:cs typeface="Arial Black"/>
              </a:rPr>
              <a:t>La misma petición,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025" b="1">
                <a:solidFill>
                  <a:srgbClr val="F7F7F5"/>
                </a:solidFill>
                <a:latin typeface="Arial Black"/>
                <a:ea typeface="Arial Black"/>
                <a:cs typeface="Arial Black"/>
              </a:defRPr>
            </a:pPr>
            <a:r>
              <a:rPr sz="5025" b="1">
                <a:solidFill>
                  <a:srgbClr val="C8FF00"/>
                </a:solidFill>
                <a:latin typeface="Arial Black"/>
                <a:ea typeface="Arial Black"/>
                <a:cs typeface="Arial Black"/>
              </a:rPr>
              <a:t>tres envoltorios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8D18D-56E3-4A45-A946-4DD25E70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C8FF00"/>
                </a:solidFill>
                <a:latin typeface="Arial Black"/>
                <a:ea typeface="Arial Black"/>
                <a:cs typeface="Arial Black"/>
              </a:defRPr>
            </a:pPr>
            <a:r>
              <a:rPr sz="2550" b="1">
                <a:solidFill>
                  <a:srgbClr val="C8FF00"/>
                </a:solidFill>
                <a:latin typeface="Arial Black"/>
                <a:ea typeface="Arial Black"/>
                <a:cs typeface="Arial Black"/>
              </a:rPr>
              <a:t>OpenAI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D3471-B439-4103-A3B3-C2DD0CB5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909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7F7F5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F7F7F5"/>
                </a:solidFill>
                <a:latin typeface="Menlo"/>
                <a:ea typeface="Menlo"/>
                <a:cs typeface="Menlo"/>
              </a:rPr>
              <a:t>function_call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A9627-7476-45ED-925A-69AE6A91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576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A1A1AA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A1A1AA"/>
                </a:solidFill>
                <a:latin typeface="Menlo"/>
                <a:ea typeface="Menlo"/>
                <a:cs typeface="Menlo"/>
              </a:rPr>
              <a:t>arguments: JSON string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05117-B654-406C-BFBC-9699792F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576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025" b="0">
                <a:solidFill>
                  <a:srgbClr val="A1A1AA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A1A1AA"/>
                </a:solidFill>
                <a:latin typeface="Menlo"/>
                <a:ea typeface="Menlo"/>
                <a:cs typeface="Menlo"/>
              </a:rPr>
              <a:t>call_id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DDA5E-A723-44A7-A4C4-07831088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343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F95CA-DE15-4879-9800-7CC56572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C8FF00"/>
                </a:solidFill>
                <a:latin typeface="Arial Black"/>
                <a:ea typeface="Arial Black"/>
                <a:cs typeface="Arial Black"/>
              </a:defRPr>
            </a:pPr>
            <a:r>
              <a:rPr sz="2550" b="1">
                <a:solidFill>
                  <a:srgbClr val="C8FF00"/>
                </a:solidFill>
                <a:latin typeface="Arial Black"/>
                <a:ea typeface="Arial Black"/>
                <a:cs typeface="Arial Black"/>
              </a:rPr>
              <a:t>Anthropic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05B10-15FD-43AC-B5CF-8ECA1463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721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7F7F5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F7F7F5"/>
                </a:solidFill>
                <a:latin typeface="Menlo"/>
                <a:ea typeface="Menlo"/>
                <a:cs typeface="Menlo"/>
              </a:rPr>
              <a:t>tool_use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BB312-1D8A-4FD5-8B65-CD95287F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4389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A1A1AA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A1A1AA"/>
                </a:solidFill>
                <a:latin typeface="Menlo"/>
                <a:ea typeface="Menlo"/>
                <a:cs typeface="Menlo"/>
              </a:rPr>
              <a:t>input: objeto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6285F-56E0-4F3F-A95A-4A0C95C6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389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025" b="0">
                <a:solidFill>
                  <a:srgbClr val="A1A1AA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A1A1AA"/>
                </a:solidFill>
                <a:latin typeface="Menlo"/>
                <a:ea typeface="Menlo"/>
                <a:cs typeface="Menlo"/>
              </a:rPr>
              <a:t>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F415D-80E6-4EB6-9D6C-7CCC8636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343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D31A3-FB9B-472C-89F6-B44736C7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C8FF00"/>
                </a:solidFill>
                <a:latin typeface="Arial Black"/>
                <a:ea typeface="Arial Black"/>
                <a:cs typeface="Arial Black"/>
              </a:defRPr>
            </a:pPr>
            <a:r>
              <a:rPr sz="2550" b="1">
                <a:solidFill>
                  <a:srgbClr val="C8FF00"/>
                </a:solidFill>
                <a:latin typeface="Arial Black"/>
                <a:ea typeface="Arial Black"/>
                <a:cs typeface="Arial Black"/>
              </a:rPr>
              <a:t>Google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18EB6F-1A08-44DF-A4C7-6A95F923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1534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7F7F5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F7F7F5"/>
                </a:solidFill>
                <a:latin typeface="Menlo"/>
                <a:ea typeface="Menlo"/>
                <a:cs typeface="Menlo"/>
              </a:rPr>
              <a:t>functionCall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46FA1A-2977-4DFC-88D2-15E29D75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820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A1A1AA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A1A1AA"/>
                </a:solidFill>
                <a:latin typeface="Menlo"/>
                <a:ea typeface="Menlo"/>
                <a:cs typeface="Menlo"/>
              </a:rPr>
              <a:t>arguments: objeto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F603B4-7AFC-4974-8033-28822426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8201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025" b="0">
                <a:solidFill>
                  <a:srgbClr val="A1A1AA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A1A1AA"/>
                </a:solidFill>
                <a:latin typeface="Menlo"/>
                <a:ea typeface="Menlo"/>
                <a:cs typeface="Menlo"/>
              </a:rPr>
              <a:t>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D7FD8-D282-4B6D-953F-D0A6D8A6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0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343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5562C4-0B36-4D30-AA2F-9931BB41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858500"/>
            <a:ext cx="876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Si estas diferencias llegan al handler, terminas duplicando lógica.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3F91BB-7527-4A99-991A-B91A670C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306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A1A1A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A1A1AA"/>
                </a:solidFill>
                <a:latin typeface="Menlo"/>
                <a:ea typeface="Menlo"/>
                <a:cs typeface="Menlo"/>
              </a:rPr>
              <a:t>02 / 09</a:t>
            </a:r>
          </a:p>
        </p:txBody>
      </p:sp>
    </p:spTree>
    <p:extLst>
      <p:ext uri="{BB962C8B-B14F-4D97-AF65-F5344CB8AC3E}">
        <p14:creationId xmlns:p14="http://schemas.microsoft.com/office/powerpoint/2010/main" val="1722286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88F85A-BC00-4415-8B37-35BA0EAA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343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38F02-3784-4C52-8586-AF7342BF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C8FF00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C8FF00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EC337-ECC9-4D00-B140-58BEE429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876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025" b="1">
                <a:solidFill>
                  <a:srgbClr val="F7F7F5"/>
                </a:solidFill>
                <a:latin typeface="Arial Black"/>
                <a:ea typeface="Arial Black"/>
                <a:cs typeface="Arial Black"/>
              </a:defRPr>
            </a:pPr>
            <a:r>
              <a:rPr sz="5025" b="1">
                <a:solidFill>
                  <a:srgbClr val="F7F7F5"/>
                </a:solidFill>
                <a:latin typeface="Arial Black"/>
                <a:ea typeface="Arial Black"/>
                <a:cs typeface="Arial Black"/>
              </a:rPr>
              <a:t>La frontera </a:t>
            </a:r>
            <a:r>
              <a:rPr sz="5025" b="1">
                <a:solidFill>
                  <a:srgbClr val="C8FF00"/>
                </a:solidFill>
                <a:latin typeface="Arial Black"/>
                <a:ea typeface="Arial Black"/>
                <a:cs typeface="Arial Black"/>
              </a:rPr>
              <a:t>común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227B8-92BE-4E3A-9BDE-DC27DA5A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8763000" cy="5715000"/>
          </a:xfrm>
          <a:prstGeom xmlns:a="http://schemas.openxmlformats.org/drawingml/2006/main" prst="roundRect">
            <a:avLst>
              <a:gd name="adj" fmla="val 5667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19050">
            <a:solidFill>
              <a:srgbClr val="3A3A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B97DA-EEC8-4136-BF8B-D64607CE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14750"/>
            <a:ext cx="571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C8FF00"/>
                </a:solidFill>
                <a:latin typeface="Menlo"/>
                <a:ea typeface="Menlo"/>
                <a:cs typeface="Menlo"/>
              </a:defRPr>
            </a:pPr>
            <a:r>
              <a:rPr sz="3900" b="1">
                <a:solidFill>
                  <a:srgbClr val="C8FF00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D38D2-6643-4051-8648-78D0AB77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005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F7F7F5"/>
                </a:solidFill>
                <a:latin typeface="Menlo"/>
                <a:ea typeface="Menlo"/>
                <a:cs typeface="Menlo"/>
              </a:defRPr>
            </a:pPr>
            <a:r>
              <a:rPr sz="2475" b="1">
                <a:solidFill>
                  <a:srgbClr val="F7F7F5"/>
                </a:solidFill>
                <a:latin typeface="Menlo"/>
                <a:ea typeface="Menlo"/>
                <a:cs typeface="Menlo"/>
              </a:rPr>
              <a:t>"execution": {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381BF-8779-4CA1-AEE5-8565E623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6725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>
                <a:solidFill>
                  <a:srgbClr val="F7F7F5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F7F7F5"/>
                </a:solidFill>
                <a:latin typeface="Menlo"/>
                <a:ea typeface="Menlo"/>
                <a:cs typeface="Menlo"/>
              </a:rPr>
              <a:t>"name": "lookup_demo_value",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9D78F-512F-48E5-89F4-1F1C310C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3875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>
                <a:solidFill>
                  <a:srgbClr val="F7F7F5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F7F7F5"/>
                </a:solidFill>
                <a:latin typeface="Menlo"/>
                <a:ea typeface="Menlo"/>
                <a:cs typeface="Menlo"/>
              </a:rPr>
              <a:t>"args": { "key": "height" 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3A5C88-4F9E-48C7-BFBE-67A8DC30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1025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0">
                <a:solidFill>
                  <a:srgbClr val="F7F7F5"/>
                </a:solidFill>
                <a:latin typeface="Menlo"/>
                <a:ea typeface="Menlo"/>
                <a:cs typeface="Menlo"/>
              </a:defRPr>
            </a:pPr>
            <a:r>
              <a:rPr sz="2475" b="0">
                <a:solidFill>
                  <a:srgbClr val="F7F7F5"/>
                </a:solidFill>
                <a:latin typeface="Menlo"/>
                <a:ea typeface="Menlo"/>
                <a:cs typeface="Menlo"/>
              </a:rPr>
              <a:t>},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B86DB-794C-4B18-B757-D0FEF33B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770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C8FF00"/>
                </a:solidFill>
                <a:latin typeface="Menlo"/>
                <a:ea typeface="Menlo"/>
                <a:cs typeface="Menlo"/>
              </a:defRPr>
            </a:pPr>
            <a:r>
              <a:rPr sz="2475" b="1">
                <a:solidFill>
                  <a:srgbClr val="C8FF00"/>
                </a:solidFill>
                <a:latin typeface="Menlo"/>
                <a:ea typeface="Menlo"/>
                <a:cs typeface="Menlo"/>
              </a:rPr>
              <a:t>"correlation": {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EA55C-6E1E-42F9-B067-42422DA4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71437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>
                <a:solidFill>
                  <a:srgbClr val="F7F7F5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F7F7F5"/>
                </a:solidFill>
                <a:latin typeface="Menlo"/>
                <a:ea typeface="Menlo"/>
                <a:cs typeface="Menlo"/>
              </a:rPr>
              <a:t>"provider": "openai",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8350E-CCB8-4AD3-A15F-0BD97400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77152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>
                <a:solidFill>
                  <a:srgbClr val="F7F7F5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F7F7F5"/>
                </a:solidFill>
                <a:latin typeface="Menlo"/>
                <a:ea typeface="Menlo"/>
                <a:cs typeface="Menlo"/>
              </a:rPr>
              <a:t>"callId": "call_01"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194C4-42FF-46F8-8D39-7E7EC318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82867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0">
                <a:solidFill>
                  <a:srgbClr val="F7F7F5"/>
                </a:solidFill>
                <a:latin typeface="Menlo"/>
                <a:ea typeface="Menlo"/>
                <a:cs typeface="Menlo"/>
              </a:defRPr>
            </a:pPr>
            <a:r>
              <a:rPr sz="2475" b="0">
                <a:solidFill>
                  <a:srgbClr val="F7F7F5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75" b="0">
                <a:solidFill>
                  <a:srgbClr val="F7F7F5"/>
                </a:solidFill>
                <a:latin typeface="Menlo"/>
                <a:ea typeface="Menlo"/>
                <a:cs typeface="Menlo"/>
              </a:defRPr>
            </a:pPr>
            <a:r>
              <a:rPr sz="2475" b="0">
                <a:solidFill>
                  <a:srgbClr val="F7F7F5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FCEE2E-986B-48BB-85C1-25625A1C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El handler usa name + args.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7B4B5-1947-4445-AF58-50DA4AF8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29875"/>
            <a:ext cx="876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El adaptador conserva provider + callId para devolver el resultado.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3B0967-3FBF-473F-A4C9-991D7EAF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306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A1A1A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A1A1AA"/>
                </a:solidFill>
                <a:latin typeface="Menlo"/>
                <a:ea typeface="Menlo"/>
                <a:cs typeface="Menlo"/>
              </a:rPr>
              <a:t>03 / 09</a:t>
            </a:r>
          </a:p>
        </p:txBody>
      </p:sp>
    </p:spTree>
    <p:extLst>
      <p:ext uri="{BB962C8B-B14F-4D97-AF65-F5344CB8AC3E}">
        <p14:creationId xmlns:p14="http://schemas.microsoft.com/office/powerpoint/2010/main" val="15557655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BCBA77-91E2-46C5-AE3B-9E910876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343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2FDF6-AD6E-4E73-BAF6-057DAC20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C8FF00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C8FF00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D309F-6E24-42ED-A561-1B011F3A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876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025" b="1">
                <a:solidFill>
                  <a:srgbClr val="F7F7F5"/>
                </a:solidFill>
                <a:latin typeface="Arial Black"/>
                <a:ea typeface="Arial Black"/>
                <a:cs typeface="Arial Black"/>
              </a:defRPr>
            </a:pPr>
            <a:r>
              <a:rPr sz="5025" b="1">
                <a:solidFill>
                  <a:srgbClr val="F7F7F5"/>
                </a:solidFill>
                <a:latin typeface="Arial Black"/>
                <a:ea typeface="Arial Black"/>
                <a:cs typeface="Arial Black"/>
              </a:rPr>
              <a:t>El nombre </a:t>
            </a:r>
            <a:r>
              <a:rPr sz="5025" b="1">
                <a:solidFill>
                  <a:srgbClr val="C8FF00"/>
                </a:solidFill>
                <a:latin typeface="Arial Black"/>
                <a:ea typeface="Arial Black"/>
                <a:cs typeface="Arial Black"/>
              </a:rPr>
              <a:t>no basta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9AC2C-C04C-4A33-9DFF-3280B6A0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876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El modelo puede pedir dos llamadas a la misma función en el mismo turno.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926AE-14AD-4759-8971-4A286B7C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4825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34343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73BEC-D80B-4160-B74A-ECF3509F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00"/>
          </a:solidFill>
          <a:ln xmlns:a="http://schemas.openxmlformats.org/drawingml/2006/main" w="19050">
            <a:solidFill>
              <a:srgbClr val="C8FF0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4CB9B-7008-471B-B3AB-C2CA1748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429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00"/>
          </a:solidFill>
          <a:ln xmlns:a="http://schemas.openxmlformats.org/drawingml/2006/main" w="19050">
            <a:solidFill>
              <a:srgbClr val="C8FF0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58981-C9C8-49CC-9039-B4D497DD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6196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C8FF00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C8FF00"/>
                </a:solidFill>
                <a:latin typeface="Menlo"/>
                <a:ea typeface="Menlo"/>
                <a:cs typeface="Menlo"/>
              </a:rPr>
              <a:t>call_height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0805A-DCA1-4CBE-BBCE-3F0E0DFB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238750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>
                <a:solidFill>
                  <a:srgbClr val="F7F7F5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F7F7F5"/>
                </a:solidFill>
                <a:latin typeface="Menlo"/>
                <a:ea typeface="Menlo"/>
                <a:cs typeface="Menlo"/>
              </a:rPr>
              <a:t>lookup_demo_value({ key: "height" })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FA9FF-8AA0-4C91-8125-45950D90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00075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7F7F5"/>
                </a:solidFill>
                <a:latin typeface="Arial Black"/>
                <a:ea typeface="Arial Black"/>
                <a:cs typeface="Arial Black"/>
              </a:defRPr>
            </a:pPr>
            <a:r>
              <a:rPr sz="3900" b="1">
                <a:solidFill>
                  <a:srgbClr val="F7F7F5"/>
                </a:solidFill>
                <a:latin typeface="Arial Black"/>
                <a:ea typeface="Arial Black"/>
                <a:cs typeface="Arial Black"/>
              </a:rPr>
              <a:t>170 cm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BEC16-869F-478D-9456-E7F8C165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82867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C8FF00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C8FF00"/>
                </a:solidFill>
                <a:latin typeface="Menlo"/>
                <a:ea typeface="Menlo"/>
                <a:cs typeface="Menlo"/>
              </a:rPr>
              <a:t>call_weight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03C29-1E5D-4932-BCA2-72027F70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8905875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>
                <a:solidFill>
                  <a:srgbClr val="F7F7F5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F7F7F5"/>
                </a:solidFill>
                <a:latin typeface="Menlo"/>
                <a:ea typeface="Menlo"/>
                <a:cs typeface="Menlo"/>
              </a:rPr>
              <a:t>lookup_demo_value({ key: "weight" })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E3ADA-02EE-413A-A4B9-D40C8397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9667875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7F7F5"/>
                </a:solidFill>
                <a:latin typeface="Arial Black"/>
                <a:ea typeface="Arial Black"/>
                <a:cs typeface="Arial Black"/>
              </a:defRPr>
            </a:pPr>
            <a:r>
              <a:rPr sz="3900" b="1">
                <a:solidFill>
                  <a:srgbClr val="F7F7F5"/>
                </a:solidFill>
                <a:latin typeface="Arial Black"/>
                <a:ea typeface="Arial Black"/>
                <a:cs typeface="Arial Black"/>
              </a:rPr>
              <a:t>70 kg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E8A90-E03B-4622-BC1E-C10ADBCA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0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El identificador une cada resultado con su petición.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495A6-5E78-4894-8BD0-421482F4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306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A1A1A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A1A1AA"/>
                </a:solidFill>
                <a:latin typeface="Menlo"/>
                <a:ea typeface="Menlo"/>
                <a:cs typeface="Menlo"/>
              </a:rPr>
              <a:t>04 / 09</a:t>
            </a:r>
          </a:p>
        </p:txBody>
      </p:sp>
    </p:spTree>
    <p:extLst>
      <p:ext uri="{BB962C8B-B14F-4D97-AF65-F5344CB8AC3E}">
        <p14:creationId xmlns:p14="http://schemas.microsoft.com/office/powerpoint/2010/main" val="15377166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E887D-BA2E-4D11-A472-D72FF3A2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343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E044A-8268-4B13-A60B-5E8A81EC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C8FF00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C8FF00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1EE27-45EA-46A7-8A13-8FEA69C0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876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025" b="1">
                <a:solidFill>
                  <a:srgbClr val="F7F7F5"/>
                </a:solidFill>
                <a:latin typeface="Arial Black"/>
                <a:ea typeface="Arial Black"/>
                <a:cs typeface="Arial Black"/>
              </a:defRPr>
            </a:pPr>
            <a:r>
              <a:rPr sz="5025" b="1">
                <a:solidFill>
                  <a:srgbClr val="F7F7F5"/>
                </a:solidFill>
                <a:latin typeface="Arial Black"/>
                <a:ea typeface="Arial Black"/>
                <a:cs typeface="Arial Black"/>
              </a:rPr>
              <a:t>Streaming rompe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025" b="1">
                <a:solidFill>
                  <a:srgbClr val="F7F7F5"/>
                </a:solidFill>
                <a:latin typeface="Arial Black"/>
                <a:ea typeface="Arial Black"/>
                <a:cs typeface="Arial Black"/>
              </a:defRPr>
            </a:pPr>
            <a:r>
              <a:rPr sz="5025" b="1">
                <a:solidFill>
                  <a:srgbClr val="F7F7F5"/>
                </a:solidFill>
                <a:latin typeface="Arial Black"/>
                <a:ea typeface="Arial Black"/>
                <a:cs typeface="Arial Black"/>
              </a:rPr>
              <a:t>el </a:t>
            </a:r>
            <a:r>
              <a:rPr sz="5025" b="1">
                <a:solidFill>
                  <a:srgbClr val="C8FF00"/>
                </a:solidFill>
                <a:latin typeface="Arial Black"/>
                <a:ea typeface="Arial Black"/>
                <a:cs typeface="Arial Black"/>
              </a:rPr>
              <a:t>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C9052-51E6-424C-8537-47074EB2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El proveedor empieza a responder antes de terminar.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F3F58-613C-40B9-A0C2-94470D79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C8FF00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C8FF00"/>
                </a:solidFill>
                <a:latin typeface="Menlo"/>
                <a:ea typeface="Menlo"/>
                <a:cs typeface="Menlo"/>
              </a:rPr>
              <a:t>TROZO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7110D-9992-46FB-A37E-B3E6CA0F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8763000" cy="1619250"/>
          </a:xfrm>
          <a:prstGeom xmlns:a="http://schemas.openxmlformats.org/drawingml/2006/main" prst="roundRect">
            <a:avLst>
              <a:gd name="adj" fmla="val 16471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19050">
            <a:solidFill>
              <a:srgbClr val="34343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EE853-A003-4F21-A1B9-A204F3D3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7687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75" b="1">
                <a:solidFill>
                  <a:srgbClr val="F7F7F5"/>
                </a:solidFill>
                <a:latin typeface="Menlo"/>
                <a:ea typeface="Menlo"/>
                <a:cs typeface="Menlo"/>
              </a:defRPr>
            </a:pPr>
            <a:r>
              <a:rPr sz="3375" b="1">
                <a:solidFill>
                  <a:srgbClr val="F7F7F5"/>
                </a:solidFill>
                <a:latin typeface="Menlo"/>
                <a:ea typeface="Menlo"/>
                <a:cs typeface="Menlo"/>
              </a:rPr>
              <a:t>{"key":"hei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9B5E4-B6F4-44E3-9118-B3EE4F1C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C8FF00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C8FF00"/>
                </a:solidFill>
                <a:latin typeface="Menlo"/>
                <a:ea typeface="Menlo"/>
                <a:cs typeface="Menlo"/>
              </a:rPr>
              <a:t>TROZO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A8C4C-4EEF-4E2B-B497-C48C6537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0"/>
            <a:ext cx="8763000" cy="1619250"/>
          </a:xfrm>
          <a:prstGeom xmlns:a="http://schemas.openxmlformats.org/drawingml/2006/main" prst="roundRect">
            <a:avLst>
              <a:gd name="adj" fmla="val 16471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19050">
            <a:solidFill>
              <a:srgbClr val="34343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DDFA4-014E-4615-99AE-D437CB43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82391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75" b="1">
                <a:solidFill>
                  <a:srgbClr val="F7F7F5"/>
                </a:solidFill>
                <a:latin typeface="Menlo"/>
                <a:ea typeface="Menlo"/>
                <a:cs typeface="Menlo"/>
              </a:defRPr>
            </a:pPr>
            <a:r>
              <a:rPr sz="3375" b="1">
                <a:solidFill>
                  <a:srgbClr val="F7F7F5"/>
                </a:solidFill>
                <a:latin typeface="Menlo"/>
                <a:ea typeface="Menlo"/>
                <a:cs typeface="Menlo"/>
              </a:rPr>
              <a:t>ght"}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7BEB7-BF7D-4599-A05C-0D8821B3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48875"/>
            <a:ext cx="8763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Una lectura puede cortar un mensaje o traer varios.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CC54C-A7FF-4E5A-A2A2-FAA8A13D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SSE marca el final de cada evento con una línea en blanco.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962B5-55C9-4117-840F-E927AB53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306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A1A1A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A1A1AA"/>
                </a:solidFill>
                <a:latin typeface="Menlo"/>
                <a:ea typeface="Menlo"/>
                <a:cs typeface="Menlo"/>
              </a:rPr>
              <a:t>05 / 09</a:t>
            </a:r>
          </a:p>
        </p:txBody>
      </p:sp>
    </p:spTree>
    <p:extLst>
      <p:ext uri="{BB962C8B-B14F-4D97-AF65-F5344CB8AC3E}">
        <p14:creationId xmlns:p14="http://schemas.microsoft.com/office/powerpoint/2010/main" val="3573409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6FA0D9-219E-4F00-88AA-CB3FD3E7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343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558D2-31FF-4FC2-AAC4-567ED613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C8FF00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C8FF00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585A9-1B90-468A-A25C-7E0D43B8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876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025" b="1">
                <a:solidFill>
                  <a:srgbClr val="F7F7F5"/>
                </a:solidFill>
                <a:latin typeface="Arial Black"/>
                <a:ea typeface="Arial Black"/>
                <a:cs typeface="Arial Black"/>
              </a:defRPr>
            </a:pPr>
            <a:r>
              <a:rPr sz="5025" b="1">
                <a:solidFill>
                  <a:srgbClr val="F7F7F5"/>
                </a:solidFill>
                <a:latin typeface="Arial Black"/>
                <a:ea typeface="Arial Black"/>
                <a:cs typeface="Arial Black"/>
              </a:rPr>
              <a:t>La tarea del </a:t>
            </a:r>
            <a:r>
              <a:rPr sz="5025" b="1">
                <a:solidFill>
                  <a:srgbClr val="C8FF00"/>
                </a:solidFill>
                <a:latin typeface="Arial Black"/>
                <a:ea typeface="Arial Black"/>
                <a:cs typeface="Arial Black"/>
              </a:rPr>
              <a:t>parser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B67BC-559B-4922-B0AE-ED63CC90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57625"/>
            <a:ext cx="0" cy="619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4343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E7552-95FC-4404-818B-D38D4C75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225"/>
          </a:solidFill>
          <a:ln xmlns:a="http://schemas.openxmlformats.org/drawingml/2006/main" w="19050">
            <a:solidFill>
              <a:srgbClr val="C8FF0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8B1E4-3C42-484B-B2AF-E377AF58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C8FF00"/>
                </a:solidFill>
                <a:latin typeface="Arial Black"/>
                <a:ea typeface="Arial Black"/>
                <a:cs typeface="Arial Black"/>
              </a:defRPr>
            </a:pPr>
            <a:r>
              <a:rPr sz="2100" b="1">
                <a:solidFill>
                  <a:srgbClr val="C8FF00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B7642-3F04-4367-BDB2-9ACEE5C7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909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Guarda lo que llega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CA9DE-43CB-4F78-9B98-1485C805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19550"/>
            <a:ext cx="704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El fragmento se añade a un buffer.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41474-60C1-464A-9AEC-F54FDE91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225"/>
          </a:solidFill>
          <a:ln xmlns:a="http://schemas.openxmlformats.org/drawingml/2006/main" w="19050">
            <a:solidFill>
              <a:srgbClr val="C8FF0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2BFB6-4E8F-453C-9588-7447F8B5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00675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C8FF00"/>
                </a:solidFill>
                <a:latin typeface="Arial Black"/>
                <a:ea typeface="Arial Black"/>
                <a:cs typeface="Arial Black"/>
              </a:defRPr>
            </a:pPr>
            <a:r>
              <a:rPr sz="2100" b="1">
                <a:solidFill>
                  <a:srgbClr val="C8FF00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6A58E6-9724-4CC8-B707-2A272DD7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Extrae eventos completos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0C295-436C-4A4C-8AD0-ECAFDA07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76925"/>
            <a:ext cx="704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Solo procesa lo que termina con la marca de SSE.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D4527-A54D-4F84-B5EB-631722DD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43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225"/>
          </a:solidFill>
          <a:ln xmlns:a="http://schemas.openxmlformats.org/drawingml/2006/main" w="19050">
            <a:solidFill>
              <a:srgbClr val="C8FF0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77C1E-7C91-42A8-88A4-2BF0369A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C8FF00"/>
                </a:solidFill>
                <a:latin typeface="Arial Black"/>
                <a:ea typeface="Arial Black"/>
                <a:cs typeface="Arial Black"/>
              </a:defRPr>
            </a:pPr>
            <a:r>
              <a:rPr sz="2100" b="1">
                <a:solidFill>
                  <a:srgbClr val="C8FF00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E4538-0A41-40C8-9014-DDE6DC56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710565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Agrupa las piezas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F6F28E-BE0C-425D-A643-7867841F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7734300"/>
            <a:ext cx="704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Usa el índice o el ID que aporta el proveedor.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19B58A-66B8-4E2B-8983-B3BCB1A8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011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00"/>
          </a:solidFill>
          <a:ln xmlns:a="http://schemas.openxmlformats.org/drawingml/2006/main" w="19050">
            <a:solidFill>
              <a:srgbClr val="C8FF0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4978FB-B6D3-4B74-A4EC-7CED396F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15425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80808"/>
                </a:solidFill>
                <a:latin typeface="Arial Black"/>
                <a:ea typeface="Arial Black"/>
                <a:cs typeface="Arial Black"/>
              </a:defRPr>
            </a:pPr>
            <a:r>
              <a:rPr sz="2100" b="1">
                <a:solidFill>
                  <a:srgbClr val="080808"/>
                </a:solidFill>
                <a:latin typeface="Arial Black"/>
                <a:ea typeface="Arial Black"/>
                <a:cs typeface="Arial Black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0BF79D-F712-4295-95F8-6B254334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963025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Cierra la llamada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647260-665C-4C14-AB06-C437665A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9591675"/>
            <a:ext cx="704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Convierte los argumentos cuando ya están completos.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E9C319-1EB3-4119-9174-50E72466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Lo incompleto espera. Lo inválido no se adivina.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D640B1-D882-45E5-B774-6DA1C9DA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306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A1A1A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A1A1AA"/>
                </a:solidFill>
                <a:latin typeface="Menlo"/>
                <a:ea typeface="Menlo"/>
                <a:cs typeface="Menlo"/>
              </a:rPr>
              <a:t>06 / 09</a:t>
            </a:r>
          </a:p>
        </p:txBody>
      </p:sp>
    </p:spTree>
    <p:extLst>
      <p:ext uri="{BB962C8B-B14F-4D97-AF65-F5344CB8AC3E}">
        <p14:creationId xmlns:p14="http://schemas.microsoft.com/office/powerpoint/2010/main" val="9624120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B41E0-98CF-4D96-BBA6-FB6E0AF5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343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5FFFF-9848-4557-9721-413489B5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C8FF00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C8FF00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FE717-65F1-48FF-A87A-F30A606D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876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025" b="1">
                <a:solidFill>
                  <a:srgbClr val="F7F7F5"/>
                </a:solidFill>
                <a:latin typeface="Arial Black"/>
                <a:ea typeface="Arial Black"/>
                <a:cs typeface="Arial Black"/>
              </a:defRPr>
            </a:pPr>
            <a:r>
              <a:rPr sz="5025" b="1">
                <a:solidFill>
                  <a:srgbClr val="F7F7F5"/>
                </a:solidFill>
                <a:latin typeface="Arial Black"/>
                <a:ea typeface="Arial Black"/>
                <a:cs typeface="Arial Black"/>
              </a:rPr>
              <a:t>El reintento puede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025" b="1">
                <a:solidFill>
                  <a:srgbClr val="F7F7F5"/>
                </a:solidFill>
                <a:latin typeface="Arial Black"/>
                <a:ea typeface="Arial Black"/>
                <a:cs typeface="Arial Black"/>
              </a:defRPr>
            </a:pPr>
            <a:r>
              <a:rPr sz="5025" b="1">
                <a:solidFill>
                  <a:srgbClr val="C8FF00"/>
                </a:solidFill>
                <a:latin typeface="Arial Black"/>
                <a:ea typeface="Arial Black"/>
                <a:cs typeface="Arial Black"/>
              </a:rPr>
              <a:t>duplicar</a:t>
            </a:r>
            <a:r>
              <a:rPr sz="5025" b="1">
                <a:solidFill>
                  <a:srgbClr val="F7F7F5"/>
                </a:solidFill>
                <a:latin typeface="Arial Black"/>
                <a:ea typeface="Arial Black"/>
                <a:cs typeface="Arial Black"/>
              </a:rPr>
              <a:t> el dato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6E5F4-C364-4583-AEE4-5DC7F4A1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El handler guarda 70 kg. La confirmación se pierde. El harness repite la escritura.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139014b1f4b0f"/>
          <a:srcRect xmlns:a="http://schemas.openxmlformats.org/drawingml/2006/main" l="0" t="751" r="0" b="7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5143500"/>
            <a:ext cx="8763000" cy="4857750"/>
          </a:xfrm>
          <a:prstGeom xmlns:a="http://schemas.openxmlformats.org/drawingml/2006/main" prst="roundRect">
            <a:avLst>
              <a:gd name="adj" fmla="val 588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F1F24-3CBA-4ED2-BA68-E6A2CB28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572750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Las escrituras necesitan idempotencia o un ledger de llamadas ejecutadas.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9DC59-780F-418F-A7ED-BB20BF71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306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A1A1A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A1A1AA"/>
                </a:solidFill>
                <a:latin typeface="Menlo"/>
                <a:ea typeface="Menlo"/>
                <a:cs typeface="Menlo"/>
              </a:rPr>
              <a:t>07 / 09</a:t>
            </a:r>
          </a:p>
        </p:txBody>
      </p:sp>
    </p:spTree>
    <p:extLst>
      <p:ext uri="{BB962C8B-B14F-4D97-AF65-F5344CB8AC3E}">
        <p14:creationId xmlns:p14="http://schemas.microsoft.com/office/powerpoint/2010/main" val="10669609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5B77D-1425-4BF8-AE8C-44D33C1F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343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01FD8-EB48-4518-A710-92776649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C8FF00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C8FF00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B34F0-F086-4F40-9EE0-271A616A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876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025" b="1">
                <a:solidFill>
                  <a:srgbClr val="F7F7F5"/>
                </a:solidFill>
                <a:latin typeface="Arial Black"/>
                <a:ea typeface="Arial Black"/>
                <a:cs typeface="Arial Black"/>
              </a:defRPr>
            </a:pPr>
            <a:r>
              <a:rPr sz="5025" b="1">
                <a:solidFill>
                  <a:srgbClr val="F7F7F5"/>
                </a:solidFill>
                <a:latin typeface="Arial Black"/>
                <a:ea typeface="Arial Black"/>
                <a:cs typeface="Arial Black"/>
              </a:rPr>
              <a:t>Quién comunica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025" b="1">
                <a:solidFill>
                  <a:srgbClr val="F7F7F5"/>
                </a:solidFill>
                <a:latin typeface="Arial Black"/>
                <a:ea typeface="Arial Black"/>
                <a:cs typeface="Arial Black"/>
              </a:defRPr>
            </a:pPr>
            <a:r>
              <a:rPr sz="5025" b="1">
                <a:solidFill>
                  <a:srgbClr val="F7F7F5"/>
                </a:solidFill>
                <a:latin typeface="Arial Black"/>
                <a:ea typeface="Arial Black"/>
                <a:cs typeface="Arial Black"/>
              </a:rPr>
              <a:t>el </a:t>
            </a:r>
            <a:r>
              <a:rPr sz="5025" b="1">
                <a:solidFill>
                  <a:srgbClr val="C8FF00"/>
                </a:solidFill>
                <a:latin typeface="Arial Black"/>
                <a:ea typeface="Arial Black"/>
                <a:cs typeface="Arial Black"/>
              </a:rPr>
              <a:t>error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730E3-AEB4-4255-8215-38D809D5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0" cy="695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343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F5074-421C-4874-B247-0BAA91DD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C8FF00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C8FF00"/>
                </a:solidFill>
                <a:latin typeface="Menlo"/>
                <a:ea typeface="Menlo"/>
                <a:cs typeface="Menlo"/>
              </a:rPr>
              <a:t>FALLA LA TOOL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F6D2D-22E6-45DF-9B56-B283C6EE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81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F7F7F5"/>
                </a:solidFill>
                <a:latin typeface="Arial Black"/>
                <a:ea typeface="Arial Black"/>
                <a:cs typeface="Arial Black"/>
              </a:defRPr>
            </a:pPr>
            <a:r>
              <a:rPr sz="2925" b="1">
                <a:solidFill>
                  <a:srgbClr val="F7F7F5"/>
                </a:solidFill>
                <a:latin typeface="Arial Black"/>
                <a:ea typeface="Arial Black"/>
                <a:cs typeface="Arial Black"/>
              </a:rPr>
              <a:t>El proveedor sigue disponible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892EF-216C-45C7-AAE7-3EBE7FEF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El harness devuelve un resultado de error con el mismo identificador.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440B1-AA72-4A6A-ADAC-12D02A86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El LLM puede explicarlo o pedir una aclaración al usuario.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94E1E-1F66-4F36-971A-30027296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1475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4D4D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FF4D4D"/>
                </a:solidFill>
                <a:latin typeface="Menlo"/>
                <a:ea typeface="Menlo"/>
                <a:cs typeface="Menlo"/>
              </a:rPr>
              <a:t>FALLA EL PROVEEDOR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6FCA9-9774-43FE-BB5D-C63FA53E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2437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F7F7F5"/>
                </a:solidFill>
                <a:latin typeface="Arial Black"/>
                <a:ea typeface="Arial Black"/>
                <a:cs typeface="Arial Black"/>
              </a:defRPr>
            </a:pPr>
            <a:r>
              <a:rPr sz="2925" b="1">
                <a:solidFill>
                  <a:srgbClr val="F7F7F5"/>
                </a:solidFill>
                <a:latin typeface="Arial Black"/>
                <a:ea typeface="Arial Black"/>
                <a:cs typeface="Arial Black"/>
              </a:rPr>
              <a:t>El LLM ya no puede responder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B6BF5-F217-4AA6-AEF0-EFCD62A9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096000"/>
            <a:ext cx="3810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La app muestra un mensaje local escrito de antemano.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5DDD4-7AB4-41A8-A1E4-24AE0ED7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9625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Los detalles técnicos se quedan en el log.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526BB-7315-4374-A056-10D14609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287000"/>
            <a:ext cx="8763000" cy="1143000"/>
          </a:xfrm>
          <a:prstGeom xmlns:a="http://schemas.openxmlformats.org/drawingml/2006/main" prst="roundRect">
            <a:avLst>
              <a:gd name="adj" fmla="val 21667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19050">
            <a:solidFill>
              <a:srgbClr val="34343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873B4-5465-4681-A130-96746950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062037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No he podido obtener una respuesta. Inténtalo de nuevo.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FBFCC-1DE5-4F45-82C9-047C26C7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306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A1A1A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A1A1AA"/>
                </a:solidFill>
                <a:latin typeface="Menlo"/>
                <a:ea typeface="Menlo"/>
                <a:cs typeface="Menlo"/>
              </a:rPr>
              <a:t>08 / 09</a:t>
            </a:r>
          </a:p>
        </p:txBody>
      </p:sp>
    </p:spTree>
    <p:extLst>
      <p:ext uri="{BB962C8B-B14F-4D97-AF65-F5344CB8AC3E}">
        <p14:creationId xmlns:p14="http://schemas.microsoft.com/office/powerpoint/2010/main" val="9296871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27DD8-86C2-448E-ADA0-A6EDA6AE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C8FF00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C8FF00"/>
                </a:solidFill>
                <a:latin typeface="Menlo"/>
                <a:ea typeface="Menlo"/>
                <a:cs typeface="Menlo"/>
              </a:rPr>
              <a:t>RESUMEN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F96AE-F78E-4886-A9FF-0F7B6B7F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876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700" b="1">
                <a:solidFill>
                  <a:srgbClr val="F7F7F5"/>
                </a:solidFill>
                <a:latin typeface="Arial Black"/>
                <a:ea typeface="Arial Black"/>
                <a:cs typeface="Arial Black"/>
              </a:defRPr>
            </a:pPr>
            <a:r>
              <a:rPr sz="5700" b="1">
                <a:solidFill>
                  <a:srgbClr val="F7F7F5"/>
                </a:solidFill>
                <a:latin typeface="Arial Black"/>
                <a:ea typeface="Arial Black"/>
                <a:cs typeface="Arial Black"/>
              </a:rPr>
              <a:t>El parser no borra diferencias.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5700" b="1">
                <a:solidFill>
                  <a:srgbClr val="F7F7F5"/>
                </a:solidFill>
                <a:latin typeface="Arial Black"/>
                <a:ea typeface="Arial Black"/>
                <a:cs typeface="Arial Black"/>
              </a:defRPr>
            </a:pPr>
            <a:r>
              <a:rPr sz="5700" b="1">
                <a:solidFill>
                  <a:srgbClr val="F7F7F5"/>
                </a:solidFill>
                <a:latin typeface="Arial Black"/>
                <a:ea typeface="Arial Black"/>
                <a:cs typeface="Arial Black"/>
              </a:rPr>
              <a:t>Las </a:t>
            </a:r>
            <a:r>
              <a:rPr sz="5700" b="1">
                <a:solidFill>
                  <a:srgbClr val="C8FF00"/>
                </a:solidFill>
                <a:latin typeface="Arial Black"/>
                <a:ea typeface="Arial Black"/>
                <a:cs typeface="Arial Black"/>
              </a:rPr>
              <a:t>encierra</a:t>
            </a:r>
            <a:r>
              <a:rPr sz="5700" b="1">
                <a:solidFill>
                  <a:srgbClr val="F7F7F5"/>
                </a:solidFill>
                <a:latin typeface="Arial Black"/>
                <a:ea typeface="Arial Black"/>
                <a:cs typeface="Arial Black"/>
              </a:rPr>
              <a:t>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37B6C-0F50-4F0D-8E2C-1597D6E7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838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El resto del agente trabaja con una sola interfaz. El adaptador conserva la dirección de vuelta.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C4B82-86EC-4CF7-B42B-8335AEC0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F7F7F5"/>
                </a:solidFill>
                <a:latin typeface="Arial Black"/>
                <a:ea typeface="Arial Black"/>
                <a:cs typeface="Arial Black"/>
              </a:defRPr>
            </a:pPr>
            <a:r>
              <a:rPr sz="3300" b="1">
                <a:solidFill>
                  <a:srgbClr val="F7F7F5"/>
                </a:solidFill>
                <a:latin typeface="Arial Black"/>
                <a:ea typeface="Arial Black"/>
                <a:cs typeface="Arial Black"/>
              </a:rPr>
              <a:t>Vídeo completo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ECE77-673D-4568-ABBA-4E4F579D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286875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7F7F5"/>
                </a:solidFill>
                <a:latin typeface="Arial"/>
                <a:ea typeface="Arial"/>
                <a:cs typeface="Arial"/>
              </a:rPr>
              <a:t>JSON reales, demo de streaming y tests que cortan el stream en cualquier posición.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FBE08-AFBE-4B77-AF90-2A86CCA0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19187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Enlace en la publicación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EE1C4-B225-4556-81E1-7E91D041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306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A1A1A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A1A1AA"/>
                </a:solidFill>
                <a:latin typeface="Menlo"/>
                <a:ea typeface="Menlo"/>
                <a:cs typeface="Menlo"/>
              </a:rPr>
              <a:t>09 / 09</a:t>
            </a:r>
          </a:p>
        </p:txBody>
      </p:sp>
    </p:spTree>
    <p:extLst>
      <p:ext uri="{BB962C8B-B14F-4D97-AF65-F5344CB8AC3E}">
        <p14:creationId xmlns:p14="http://schemas.microsoft.com/office/powerpoint/2010/main" val="11537854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2026-09-21T09:51:16.9180000Z</dcterms:created>
  <dcterms:modified xsi:type="dcterms:W3CDTF">2026-09-21T09:51:16.9180000Z</dcterms:modified>
</coreProperties>
</file>