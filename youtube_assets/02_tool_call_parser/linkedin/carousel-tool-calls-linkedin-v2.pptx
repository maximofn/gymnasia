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9410c34f49494a" /><Relationship Type="http://schemas.openxmlformats.org/officeDocument/2006/relationships/extended-properties" Target="/docProps/app.xml" Id="R2a4a49c9323e4ab3" /><Relationship Type="http://schemas.openxmlformats.org/officeDocument/2006/relationships/officeDocument" Target="/ppt/presentation.xml" Id="R54dba8bbc47b4e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71076665b5415b"/>
  </p:sldMasterIdLst>
  <p:notesMasterIdLst>
    <p:notesMasterId xmlns:r="http://schemas.openxmlformats.org/officeDocument/2006/relationships" r:id="Rc0dee47c05554e2a"/>
  </p:notesMasterIdLst>
  <p:sldIdLst>
    <p:sldId xmlns:r="http://schemas.openxmlformats.org/officeDocument/2006/relationships" id="256" r:id="R75b3721c5c50472f"/>
    <p:sldId xmlns:r="http://schemas.openxmlformats.org/officeDocument/2006/relationships" id="257" r:id="Re10175671d4f44b6"/>
    <p:sldId xmlns:r="http://schemas.openxmlformats.org/officeDocument/2006/relationships" id="258" r:id="R302a9f883ff742e1"/>
    <p:sldId xmlns:r="http://schemas.openxmlformats.org/officeDocument/2006/relationships" id="259" r:id="Rccb7f847e5ff4458"/>
    <p:sldId xmlns:r="http://schemas.openxmlformats.org/officeDocument/2006/relationships" id="260" r:id="R31cc2a2dcd294f97"/>
    <p:sldId xmlns:r="http://schemas.openxmlformats.org/officeDocument/2006/relationships" id="261" r:id="Reb9253ab79394316"/>
    <p:sldId xmlns:r="http://schemas.openxmlformats.org/officeDocument/2006/relationships" id="262" r:id="R56a12bad094e4886"/>
    <p:sldId xmlns:r="http://schemas.openxmlformats.org/officeDocument/2006/relationships" id="263" r:id="R7d5b0dd84b41425f"/>
    <p:sldId xmlns:r="http://schemas.openxmlformats.org/officeDocument/2006/relationships" id="264" r:id="R7a7932172aaf4ea5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42c9ffe9bf416e" /><Relationship Type="http://schemas.openxmlformats.org/officeDocument/2006/relationships/slideMaster" Target="/ppt/slideMasters/slideMaster1.xml" Id="Red71076665b5415b" /><Relationship Type="http://schemas.openxmlformats.org/officeDocument/2006/relationships/notesMaster" Target="/ppt/notesMasters/notesMaster1.xml" Id="Rc0dee47c05554e2a" /><Relationship Type="http://schemas.openxmlformats.org/officeDocument/2006/relationships/presProps" Target="/ppt/presProps.xml" Id="Rfbdd51a1138947ad" /><Relationship Type="http://schemas.openxmlformats.org/officeDocument/2006/relationships/tableStyles" Target="/ppt/tableStyles.xml" Id="R3dba35a44ce24043" /><Relationship Type="http://schemas.openxmlformats.org/officeDocument/2006/relationships/slide" Target="/ppt/slides/slide1.xml" Id="R75b3721c5c50472f" /><Relationship Type="http://schemas.openxmlformats.org/officeDocument/2006/relationships/slide" Target="/ppt/slides/slide2.xml" Id="Re10175671d4f44b6" /><Relationship Type="http://schemas.openxmlformats.org/officeDocument/2006/relationships/slide" Target="/ppt/slides/slide3.xml" Id="R302a9f883ff742e1" /><Relationship Type="http://schemas.openxmlformats.org/officeDocument/2006/relationships/slide" Target="/ppt/slides/slide4.xml" Id="Rccb7f847e5ff4458" /><Relationship Type="http://schemas.openxmlformats.org/officeDocument/2006/relationships/slide" Target="/ppt/slides/slide5.xml" Id="R31cc2a2dcd294f97" /><Relationship Type="http://schemas.openxmlformats.org/officeDocument/2006/relationships/slide" Target="/ppt/slides/slide6.xml" Id="Reb9253ab79394316" /><Relationship Type="http://schemas.openxmlformats.org/officeDocument/2006/relationships/slide" Target="/ppt/slides/slide7.xml" Id="R56a12bad094e4886" /><Relationship Type="http://schemas.openxmlformats.org/officeDocument/2006/relationships/slide" Target="/ppt/slides/slide8.xml" Id="R7d5b0dd84b41425f" /><Relationship Type="http://schemas.openxmlformats.org/officeDocument/2006/relationships/slide" Target="/ppt/slides/slide9.xml" Id="R7a7932172aaf4e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bb259bfad54e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b773a927484f3b" /><Relationship Type="http://schemas.openxmlformats.org/officeDocument/2006/relationships/notesMaster" Target="/ppt/notesMasters/notesMaster1.xml" Id="Re0c137ceb6e0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d8011350094fb4" /><Relationship Type="http://schemas.openxmlformats.org/officeDocument/2006/relationships/notesMaster" Target="/ppt/notesMasters/notesMaster1.xml" Id="R0cb6888b13fa47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562dd1dd7148ff" /><Relationship Type="http://schemas.openxmlformats.org/officeDocument/2006/relationships/notesMaster" Target="/ppt/notesMasters/notesMaster1.xml" Id="R51dca8ff100346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11dac22d634403" /><Relationship Type="http://schemas.openxmlformats.org/officeDocument/2006/relationships/notesMaster" Target="/ppt/notesMasters/notesMaster1.xml" Id="R60b1ec99399044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fa9fc99445433a" /><Relationship Type="http://schemas.openxmlformats.org/officeDocument/2006/relationships/notesMaster" Target="/ppt/notesMasters/notesMaster1.xml" Id="Ra969757bf48144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013ee3036443cd" /><Relationship Type="http://schemas.openxmlformats.org/officeDocument/2006/relationships/notesMaster" Target="/ppt/notesMasters/notesMaster1.xml" Id="Re056521378d948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11834e48224979" /><Relationship Type="http://schemas.openxmlformats.org/officeDocument/2006/relationships/notesMaster" Target="/ppt/notesMasters/notesMaster1.xml" Id="R1e3d8957ccf94a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4ac9b24ecf424f" /><Relationship Type="http://schemas.openxmlformats.org/officeDocument/2006/relationships/notesMaster" Target="/ppt/notesMasters/notesMaster1.xml" Id="Rcadc39299a4743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f744fc36d7488f" /><Relationship Type="http://schemas.openxmlformats.org/officeDocument/2006/relationships/notesMaster" Target="/ppt/notesMasters/notesMaster1.xml" Id="Re4d01e45db3f4b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basado en el guion del vídeo proporcionado por el usuario. Portada del carrusel.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basado en el guion del vídeo proporcionado por el usuario. Resume los tres formatos nativos mostrados en el vídeo.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basado en el guion del vídeo proporcionado por el usuario. Objeto normalizado simplificado para explicar la frontera del proveedor.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basado en el guion del vídeo proporcionado por el usuario. Ejemplo de dos llamadas iguales que solo se distinguen por su identificador.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basado en el guion del vídeo proporcionado por el usuario. Ejemplo de argumentos JSON divididos entre dos lecturas de 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basado en el guion del vídeo proporcionado por el usuario. Algoritmo simplificado del parser de streaming.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basado en el guion del vídeo proporcionado por el usuario. El vídeo muestra cómo un reintento puede guardar una medición dos veces.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basado en el guion del vídeo proporcionado por el usuario. Distingue la comunicación de un fallo de tool y de un fallo del proveedor.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basado en el guion del vídeo proporcionado por el usuario. Cierre y llamada a ver el vídeo completo desde el enlace de la publicación.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343c895e4548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a78f7979b14512" /><Relationship Type="http://schemas.openxmlformats.org/officeDocument/2006/relationships/slideLayout" Target="/ppt/slideLayouts/slideLayout1.xml" Id="R9a69950a86404b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69950a86404b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b4a63e3334d8e" /><Relationship Type="http://schemas.openxmlformats.org/officeDocument/2006/relationships/image" Target="/ppt/media/image.png" Id="Rb377d7d80b9b4859" /><Relationship Type="http://schemas.openxmlformats.org/officeDocument/2006/relationships/notesSlide" Target="/ppt/notesSlides/notesSlide1.xml" Id="R75e52dde71a04f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6bc99360d46cf" /><Relationship Type="http://schemas.openxmlformats.org/officeDocument/2006/relationships/notesSlide" Target="/ppt/notesSlides/notesSlide2.xml" Id="R426447a8399943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f810dd3ac48d2" /><Relationship Type="http://schemas.openxmlformats.org/officeDocument/2006/relationships/notesSlide" Target="/ppt/notesSlides/notesSlide3.xml" Id="R7efe0b439a044c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b772e0dde43c0" /><Relationship Type="http://schemas.openxmlformats.org/officeDocument/2006/relationships/notesSlide" Target="/ppt/notesSlides/notesSlide4.xml" Id="Rdac49425adb047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17212700e44009" /><Relationship Type="http://schemas.openxmlformats.org/officeDocument/2006/relationships/notesSlide" Target="/ppt/notesSlides/notesSlide5.xml" Id="R7d817754e94641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41e33c4ec84e89" /><Relationship Type="http://schemas.openxmlformats.org/officeDocument/2006/relationships/notesSlide" Target="/ppt/notesSlides/notesSlide6.xml" Id="R8ca26810ba8a46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b60e0d64a747c1" /><Relationship Type="http://schemas.openxmlformats.org/officeDocument/2006/relationships/image" Target="/ppt/media/image2.png" Id="R81d5d5a0b1a04f9c" /><Relationship Type="http://schemas.openxmlformats.org/officeDocument/2006/relationships/notesSlide" Target="/ppt/notesSlides/notesSlide7.xml" Id="R8307c81e03504a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1d98cbdf33405b" /><Relationship Type="http://schemas.openxmlformats.org/officeDocument/2006/relationships/notesSlide" Target="/ppt/notesSlides/notesSlide8.xml" Id="R1d8e65daaf4845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af1beecc9449f" /><Relationship Type="http://schemas.openxmlformats.org/officeDocument/2006/relationships/image" Target="/ppt/media/image3.png" Id="R9cfab94bc91447f8" /><Relationship Type="http://schemas.openxmlformats.org/officeDocument/2006/relationships/notesSlide" Target="/ppt/notesSlides/notesSlide9.xml" Id="R582336175d184f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7d7d80b9b485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0287000" cy="128587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94041-8D01-4320-BBC3-5E7EFB53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572125" cy="1285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45C6F-CAD0-409A-9888-C3AE275E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0"/>
            <a:ext cx="1619250" cy="128587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0808"/>
              </a:gs>
              <a:gs pos="100000">
                <a:srgbClr val="080808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AE951-CE46-46EA-9622-3156D6AB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4775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9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CA0DFC-CF39-4E7D-9BEA-028F82DA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58102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8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68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Tres APIs,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68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68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un solo parser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30CBC-1AFA-40AC-9115-67294223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67375"/>
            <a:ext cx="4953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Cómo leer tool calls de OpenAI, Anthropic y Google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6BBDA-89CF-4040-A57A-9271D030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67625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C8FF0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82226-1E13-4B1F-8D98-B3F013F3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Gymnasia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Construyendo un agente real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27C0F3-5BB3-4847-920E-BC1F16DD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1442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Desliza para ver dónde aparecen los bugs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4B7FB3-F76D-44BB-840B-3AA00ED4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06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11577314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9B8F2E-1E5C-403F-9B66-CD00AF7D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B28411-8C5D-490F-A123-72B4B012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EBAC0-8684-44D7-8088-6C53CFBA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876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La misma petición,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tres envoltorios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3A00B-0DB6-4198-8C21-206F412B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C8FF00"/>
                </a:solidFill>
                <a:latin typeface="Arial Black"/>
                <a:ea typeface="Arial Black"/>
                <a:cs typeface="Arial Black"/>
              </a:defRPr>
            </a:pPr>
            <a:r>
              <a:rPr sz="2550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OpenAI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0BBBD-633B-4D3B-A235-14E616D8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909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F7F7F5"/>
                </a:solidFill>
                <a:latin typeface="Menlo"/>
                <a:ea typeface="Menlo"/>
                <a:cs typeface="Menlo"/>
              </a:rPr>
              <a:t>function_call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03FF3-0EFE-413C-9F79-AAD676D4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576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arguments: JSON string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D22E75-547B-4D26-BEB7-79C675DB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576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025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call_id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BCE73-43F2-4980-AEAD-D5D5C04B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162154-C0DF-4449-898C-64FDCEB3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C8FF00"/>
                </a:solidFill>
                <a:latin typeface="Arial Black"/>
                <a:ea typeface="Arial Black"/>
                <a:cs typeface="Arial Black"/>
              </a:defRPr>
            </a:pPr>
            <a:r>
              <a:rPr sz="2550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Anthropic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66A85C-DCE8-4E72-B8DB-6DFCC31C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7721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F7F7F5"/>
                </a:solidFill>
                <a:latin typeface="Menlo"/>
                <a:ea typeface="Menlo"/>
                <a:cs typeface="Menlo"/>
              </a:rPr>
              <a:t>tool_use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98196-82BD-476D-AD3E-CC41779E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64389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input: objeto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82BD9D-2990-4F28-8CBB-0DE8C5AF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43890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025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CA6232-7E80-4EF6-BC3A-560E1D81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F07C20-588A-456E-BEE0-94363195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1915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C8FF00"/>
                </a:solidFill>
                <a:latin typeface="Arial Black"/>
                <a:ea typeface="Arial Black"/>
                <a:cs typeface="Arial Black"/>
              </a:defRPr>
            </a:pPr>
            <a:r>
              <a:rPr sz="2550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Google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0E2D90-8F6C-4A2E-8D05-0AB414F0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81534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F7F7F5"/>
                </a:solidFill>
                <a:latin typeface="Menlo"/>
                <a:ea typeface="Menlo"/>
                <a:cs typeface="Menlo"/>
              </a:rPr>
              <a:t>functionCall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754318-0F15-40BD-9006-B20E2419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88201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arguments: objeto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583FDF-9212-4386-AD41-4EB86421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8201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025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5F9DAA-CF8A-4E79-BEC9-487872E5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615867-51E3-418D-ABA7-21D43375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858500"/>
            <a:ext cx="876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Si estas diferencias llegan al handler, terminas duplicando lógica.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897BCC-E4D7-4D09-91B8-685EFBF7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06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9363204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EBFB95-849C-4281-88E3-17173135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A9B2B-22B5-4AAC-A2FA-359ABC8C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50C90-F233-474D-8E8F-BD7647A9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876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La frontera </a:t>
            </a:r>
            <a:r>
              <a:rPr sz="5025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común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AAFE-0A3B-4486-80C2-AC1EF234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8763000" cy="5715000"/>
          </a:xfrm>
          <a:prstGeom xmlns:a="http://schemas.openxmlformats.org/drawingml/2006/main" prst="roundRect">
            <a:avLst>
              <a:gd name="adj" fmla="val 5667"/>
            </a:avLst>
          </a:prstGeom>
          <a:solidFill xmlns:a="http://schemas.openxmlformats.org/drawingml/2006/main">
            <a:srgbClr val="171719"/>
          </a:solidFill>
          <a:ln xmlns:a="http://schemas.openxmlformats.org/drawingml/2006/main" w="19050">
            <a:solidFill>
              <a:srgbClr val="3A3A3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2DC7A5-9CDC-4305-8CB0-6756BBFF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14750"/>
            <a:ext cx="571500" cy="476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390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C39D1-9BF6-450F-A026-731A935D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0050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1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475" b="1">
                <a:solidFill>
                  <a:srgbClr val="F7F7F5"/>
                </a:solidFill>
                <a:latin typeface="Menlo"/>
                <a:ea typeface="Menlo"/>
                <a:cs typeface="Menlo"/>
              </a:rPr>
              <a:t>"execution": {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B0766-9E28-4ADC-B775-A330B2F8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667250"/>
            <a:ext cx="657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7F7F5"/>
                </a:solidFill>
                <a:latin typeface="Menlo"/>
                <a:ea typeface="Menlo"/>
                <a:cs typeface="Menlo"/>
              </a:rPr>
              <a:t>"name": "lookup_demo_value",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1D0CD0-458B-4C6F-800A-56200929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238750"/>
            <a:ext cx="657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7F7F5"/>
                </a:solidFill>
                <a:latin typeface="Menlo"/>
                <a:ea typeface="Menlo"/>
                <a:cs typeface="Menlo"/>
              </a:rPr>
              <a:t>"args": { "key": "height" 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7D5DB9-E863-40E8-8C77-FB4BCA5F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810250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F7F7F5"/>
                </a:solidFill>
                <a:latin typeface="Menlo"/>
                <a:ea typeface="Menlo"/>
                <a:cs typeface="Menlo"/>
              </a:rPr>
              <a:t>},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B410B-7B1E-497D-9B03-7257F891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7700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2475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"correlation": {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F1402-6A40-4B7A-A386-BF5D5BC3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71437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7F7F5"/>
                </a:solidFill>
                <a:latin typeface="Menlo"/>
                <a:ea typeface="Menlo"/>
                <a:cs typeface="Menlo"/>
              </a:rPr>
              <a:t>"provider": "openai",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3B8CC6-0466-4F23-8C93-ED162552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77152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7F7F5"/>
                </a:solidFill>
                <a:latin typeface="Menlo"/>
                <a:ea typeface="Menlo"/>
                <a:cs typeface="Menlo"/>
              </a:rPr>
              <a:t>"callId": "call_01"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7E676B-7165-4735-B687-D7FE31DB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82867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F7F7F5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75" b="0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F7F7F5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10E84D-7190-4070-A2CF-BCCBD38A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715500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El handler usa name + args.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C7168D-C7AC-469E-ADF0-37EE8F20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429875"/>
            <a:ext cx="8763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El adaptador conserva provider + callId para devolver el resultado.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2E8A11-8815-4F8C-811C-152DC06C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06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03 / 09</a:t>
            </a:r>
          </a:p>
        </p:txBody>
      </p:sp>
    </p:spTree>
    <p:extLst>
      <p:ext uri="{BB962C8B-B14F-4D97-AF65-F5344CB8AC3E}">
        <p14:creationId xmlns:p14="http://schemas.microsoft.com/office/powerpoint/2010/main" val="2798537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3F02CF-21D9-44E2-986A-9C425FB7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57FDC-7D9B-4B98-BA65-29D5C875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27AA7-C1D1-4E80-89B1-578F03F3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876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El nombre </a:t>
            </a:r>
            <a:r>
              <a:rPr sz="5025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no basta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8564E-57BC-4D6F-A442-B5C955FD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876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El modelo puede pedir dos llamadas a la misma función en el mismo turno.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46AFB-9B4A-4756-8DBB-F8859FC6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48250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34343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7694F-885C-4DE4-BABF-389D4671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9050">
            <a:solidFill>
              <a:srgbClr val="C8FF0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94A0C-0577-40F6-8CF2-F683D8CB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84296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9050">
            <a:solidFill>
              <a:srgbClr val="C8FF0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77A61B-2F44-46F9-8B55-952CA6B2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6196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call_height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A2E71-D1C2-4361-9FF1-277D39C8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238750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7F7F5"/>
                </a:solidFill>
                <a:latin typeface="Menlo"/>
                <a:ea typeface="Menlo"/>
                <a:cs typeface="Menlo"/>
              </a:rPr>
              <a:t>lookup_demo_value({ key: "height" })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1ED243-C1EE-4A5B-94F7-6EFA7764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00075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3900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170 cm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1E6C9A-3140-4BD9-9FB1-E40E4B80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82867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call_weight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656236-EAE0-4E62-989E-7F80FE42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8905875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F7F7F5"/>
                </a:solidFill>
                <a:latin typeface="Menlo"/>
                <a:ea typeface="Menlo"/>
                <a:cs typeface="Menlo"/>
              </a:rPr>
              <a:t>lookup_demo_value({ key: "weight" })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09A61-09A8-47DC-8744-BE229E06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966787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3900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70 kg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A46F3-6B96-4E97-861A-2223DE32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049000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El identificador une cada resultado con su petición.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3FD272-25B9-445B-A530-4F726C91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06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04 / 09</a:t>
            </a:r>
          </a:p>
        </p:txBody>
      </p:sp>
    </p:spTree>
    <p:extLst>
      <p:ext uri="{BB962C8B-B14F-4D97-AF65-F5344CB8AC3E}">
        <p14:creationId xmlns:p14="http://schemas.microsoft.com/office/powerpoint/2010/main" val="7449630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7B518-E1FD-4816-AB10-2E0BB37B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063008-AECE-44D0-B653-697FD130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62669-5E68-42BE-96F4-3CABEF4F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876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Streaming rompe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el </a:t>
            </a:r>
            <a:r>
              <a:rPr sz="5025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JSON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EC0EC2-7077-4245-BABC-EAF11EE5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El proveedor empieza a responder antes de terminar.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0D86C-C2FC-4F81-B60E-A759CAE0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TROZO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5BCE8-8D04-47AA-B877-58D2B2118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8763000" cy="1619250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171719"/>
          </a:solidFill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8F647F-92E7-4D45-9019-9719315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476875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375" b="1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3375" b="1">
                <a:solidFill>
                  <a:srgbClr val="F7F7F5"/>
                </a:solidFill>
                <a:latin typeface="Menlo"/>
                <a:ea typeface="Menlo"/>
                <a:cs typeface="Menlo"/>
              </a:rPr>
              <a:t>{"key":"hei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FA999-AC68-4164-A232-55156F1D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866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TROZO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02177-8A52-4B21-ABCA-556A41F1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0"/>
            <a:ext cx="8763000" cy="1619250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171719"/>
          </a:solidFill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718D05-AEE9-4F6D-A560-FE5EF875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8239125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375" b="1">
                <a:solidFill>
                  <a:srgbClr val="F7F7F5"/>
                </a:solidFill>
                <a:latin typeface="Menlo"/>
                <a:ea typeface="Menlo"/>
                <a:cs typeface="Menlo"/>
              </a:defRPr>
            </a:pPr>
            <a:r>
              <a:rPr sz="3375" b="1">
                <a:solidFill>
                  <a:srgbClr val="F7F7F5"/>
                </a:solidFill>
                <a:latin typeface="Menlo"/>
                <a:ea typeface="Menlo"/>
                <a:cs typeface="Menlo"/>
              </a:rPr>
              <a:t>ght"}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83286-E107-4852-94CA-BF70D8B5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48875"/>
            <a:ext cx="8763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Una lectura puede cortar un mensaje o traer varios.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57A88-E26C-4DBF-A427-64ED18BF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0490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SSE marca el final de cada evento con una línea en blanco.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BDA30-0A35-4772-BAFF-652160C9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06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05 / 09</a:t>
            </a:r>
          </a:p>
        </p:txBody>
      </p:sp>
    </p:spTree>
    <p:extLst>
      <p:ext uri="{BB962C8B-B14F-4D97-AF65-F5344CB8AC3E}">
        <p14:creationId xmlns:p14="http://schemas.microsoft.com/office/powerpoint/2010/main" val="6856258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8D51BA-4E7E-4208-A7B5-161CFE21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EFDF03-BE7F-4FF8-AE5F-EAA63A99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FAD294-AECB-4E0E-9456-80F4D65D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876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La tarea del </a:t>
            </a:r>
            <a:r>
              <a:rPr sz="5025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parser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BB3823-8FA5-4A99-ABC9-A3D3D45B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57625"/>
            <a:ext cx="0" cy="619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34343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644C1-8F5F-4E72-99FE-B2C35787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225"/>
          </a:solidFill>
          <a:ln xmlns:a="http://schemas.openxmlformats.org/drawingml/2006/main" w="19050">
            <a:solidFill>
              <a:srgbClr val="C8FF0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DAA1A3-D047-4F03-A7E3-7904B89E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C8FF00"/>
                </a:solidFill>
                <a:latin typeface="Arial Black"/>
                <a:ea typeface="Arial Black"/>
                <a:cs typeface="Arial Black"/>
              </a:defRPr>
            </a:pPr>
            <a:r>
              <a:rPr sz="2100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09E38-99D5-423D-96C1-92820FB5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390900"/>
            <a:ext cx="704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Guarda lo que llega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961D16-2862-409F-8FEA-0762C410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19550"/>
            <a:ext cx="704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El fragmento se añade a un buffer.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DA4337-8C8B-4480-B03A-D8B4A26E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8637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225"/>
          </a:solidFill>
          <a:ln xmlns:a="http://schemas.openxmlformats.org/drawingml/2006/main" w="19050">
            <a:solidFill>
              <a:srgbClr val="C8FF0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62F0C4-F671-4151-AB86-EF4D8CB3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00675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C8FF00"/>
                </a:solidFill>
                <a:latin typeface="Arial Black"/>
                <a:ea typeface="Arial Black"/>
                <a:cs typeface="Arial Black"/>
              </a:defRPr>
            </a:pPr>
            <a:r>
              <a:rPr sz="2100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0A516-A330-4D24-98C8-4210D691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248275"/>
            <a:ext cx="704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Extrae eventos completos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321E1-D971-4765-8566-74A40484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876925"/>
            <a:ext cx="704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Solo procesa lo que termina con la marca de SSE.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FFE256-17EE-443A-A88C-72568C50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1437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225"/>
          </a:solidFill>
          <a:ln xmlns:a="http://schemas.openxmlformats.org/drawingml/2006/main" w="19050">
            <a:solidFill>
              <a:srgbClr val="C8FF0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1EA15-1701-4261-B13A-CEE96AC2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2580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C8FF00"/>
                </a:solidFill>
                <a:latin typeface="Arial Black"/>
                <a:ea typeface="Arial Black"/>
                <a:cs typeface="Arial Black"/>
              </a:defRPr>
            </a:pPr>
            <a:r>
              <a:rPr sz="2100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1CEE05-3E7E-4ECC-AE40-3E64DAFD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7105650"/>
            <a:ext cx="704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Agrupa las piezas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DE29D9-F4E2-4E3F-934E-CC59665B1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7734300"/>
            <a:ext cx="704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Usa el índice o el ID que aporta el proveedor.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56B4CA-E2E5-4446-8EAC-5000AB25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001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9050">
            <a:solidFill>
              <a:srgbClr val="C8FF0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586B17-978E-43B2-B42C-7F39C405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115425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80808"/>
                </a:solidFill>
                <a:latin typeface="Arial Black"/>
                <a:ea typeface="Arial Black"/>
                <a:cs typeface="Arial Black"/>
              </a:defRPr>
            </a:pPr>
            <a:r>
              <a:rPr sz="2100" b="1">
                <a:solidFill>
                  <a:srgbClr val="080808"/>
                </a:solidFill>
                <a:latin typeface="Arial Black"/>
                <a:ea typeface="Arial Black"/>
                <a:cs typeface="Arial Black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F3865-E077-4E17-8B97-DCA52537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8963025"/>
            <a:ext cx="704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Cierra la llamada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42E059-6A28-48A2-B7BF-58A08671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9591675"/>
            <a:ext cx="704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Convierte los argumentos cuando ya están completos.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65DBC1-66CD-47E3-9AB2-1F0C5F3E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04900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Lo incompleto espera. Lo inválido no se adivina.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DFDC80-EA46-4387-A54C-D9800141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06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06 / 09</a:t>
            </a:r>
          </a:p>
        </p:txBody>
      </p:sp>
    </p:spTree>
    <p:extLst>
      <p:ext uri="{BB962C8B-B14F-4D97-AF65-F5344CB8AC3E}">
        <p14:creationId xmlns:p14="http://schemas.microsoft.com/office/powerpoint/2010/main" val="9138130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D3FEC2-0171-4968-A019-759DA86C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8A51E2-A7FA-4977-953A-9C0E4A57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7F1C06-52E7-431E-8F37-78321AA4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876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El reintento puede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duplicar</a:t>
            </a: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 el dato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347F9-540E-4E32-9780-442C6EE7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876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El handler guarda 70 kg. La confirmación se pierde. El harness repite la escritura.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d5d5a0b1a04f9c"/>
          <a:srcRect xmlns:a="http://schemas.openxmlformats.org/drawingml/2006/main" l="0" t="751" r="0" b="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" y="5143500"/>
            <a:ext cx="8763000" cy="4857750"/>
          </a:xfrm>
          <a:prstGeom xmlns:a="http://schemas.openxmlformats.org/drawingml/2006/main" prst="roundRect">
            <a:avLst>
              <a:gd name="adj" fmla="val 5882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CD8004-4D53-47FA-A0FF-2B9531B7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572750"/>
            <a:ext cx="876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Las escrituras necesitan idempotencia o un ledger de llamadas ejecutadas.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828DD7-102C-4672-937A-4EE53740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06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07 / 09</a:t>
            </a:r>
          </a:p>
        </p:txBody>
      </p:sp>
    </p:spTree>
    <p:extLst>
      <p:ext uri="{BB962C8B-B14F-4D97-AF65-F5344CB8AC3E}">
        <p14:creationId xmlns:p14="http://schemas.microsoft.com/office/powerpoint/2010/main" val="4751224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4F6BFC-BA63-49EF-B127-B13A72B4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DEE10-971E-4759-832D-A2EA827C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D8DA12-E97C-49F8-96CF-110BA148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876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Quién comunica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0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el </a:t>
            </a:r>
            <a:r>
              <a:rPr sz="5025" b="1">
                <a:solidFill>
                  <a:srgbClr val="C8FF00"/>
                </a:solidFill>
                <a:latin typeface="Arial Black"/>
                <a:ea typeface="Arial Black"/>
                <a:cs typeface="Arial Black"/>
              </a:rPr>
              <a:t>error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F3DE9-763D-4378-A824-663B6597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76625"/>
            <a:ext cx="0" cy="695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343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994BF-B110-4509-AF8C-90DFFB5A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0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FALLA LA TOOL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F3EAF1-E969-4D0A-8A24-44F95009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3810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29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El proveedor sigue disponible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6B164-3030-48A7-B354-14EEF133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3810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El harness devuelve un resultado de error con el mismo identificador.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88DA67-0360-4BDE-936A-BEBE49B6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El LLM puede explicarlo o pedir una aclaración al usuario.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9AC64-36EE-43CF-8158-7E7B1810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714750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FF4D4D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FF4D4D"/>
                </a:solidFill>
                <a:latin typeface="Menlo"/>
                <a:ea typeface="Menlo"/>
                <a:cs typeface="Menlo"/>
              </a:rPr>
              <a:t>FALLA EL PROVEEDOR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1767BC-DE44-4419-A294-6BA165B6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24375"/>
            <a:ext cx="381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29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El LLM ya no puede responder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2B282B-D872-4F81-820B-5BAECECB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096000"/>
            <a:ext cx="3810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La app muestra un mensaje local escrito de antemano.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EA28A8-A811-4A0F-83C3-7DF8BDE3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8096250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Los detalles técnicos se quedan en el log.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AAE5F-D3BE-418C-B905-F3714776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287000"/>
            <a:ext cx="8763000" cy="1143000"/>
          </a:xfrm>
          <a:prstGeom xmlns:a="http://schemas.openxmlformats.org/drawingml/2006/main" prst="roundRect">
            <a:avLst>
              <a:gd name="adj" fmla="val 21667"/>
            </a:avLst>
          </a:prstGeom>
          <a:solidFill xmlns:a="http://schemas.openxmlformats.org/drawingml/2006/main">
            <a:srgbClr val="171719"/>
          </a:solidFill>
          <a:ln xmlns:a="http://schemas.openxmlformats.org/drawingml/2006/main" w="19050">
            <a:solidFill>
              <a:srgbClr val="34343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B25BF3-2A33-4B6F-A8BF-911FF1F6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0620375"/>
            <a:ext cx="809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7F7F5"/>
                </a:solidFill>
                <a:latin typeface="Arial"/>
                <a:ea typeface="Arial"/>
                <a:cs typeface="Arial"/>
              </a:rPr>
              <a:t>No he podido obtener una respuesta. Inténtalo de nuevo.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E97B94-5E47-4575-9938-C38CDF70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06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6439193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b94bc91447f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0287000" cy="128587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1D2BF-A84C-4E3E-B848-F8B5D147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810250" cy="1285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BCDAEA-AE1B-4770-B2F7-E26499A4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1428750" cy="128587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0808"/>
              </a:gs>
              <a:gs pos="100000">
                <a:srgbClr val="080808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B150AF-93A0-4822-9FEE-76961547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525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C8FF00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C8FF00"/>
                </a:solidFill>
                <a:latin typeface="Menlo"/>
                <a:ea typeface="Menlo"/>
                <a:cs typeface="Menlo"/>
              </a:rPr>
              <a:t>RESUMEN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A38EE-AFBA-4A22-BF8C-017A4372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5810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517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17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El parser no borra diferencias.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517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517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Las encierra.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371BAC-B952-48BB-AD1C-66FA8ACC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5334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El resto del agente trabaja con una sola interfaz. El adaptador conserva la dirección de vuelta.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65A48F-D4C2-490A-8D80-A02F2157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9057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C8FF0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E3D09-0C2A-433A-B46F-106EE593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477250"/>
            <a:ext cx="4095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F7F7F5"/>
                </a:solidFill>
                <a:latin typeface="Arial Black"/>
                <a:ea typeface="Arial Black"/>
                <a:cs typeface="Arial Black"/>
              </a:defRPr>
            </a:pPr>
            <a:r>
              <a:rPr sz="2925" b="1">
                <a:solidFill>
                  <a:srgbClr val="F7F7F5"/>
                </a:solidFill>
                <a:latin typeface="Arial Black"/>
                <a:ea typeface="Arial Black"/>
                <a:cs typeface="Arial Black"/>
              </a:rPr>
              <a:t>Vídeo completo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A6E7F6-1C6C-4B97-9C38-6495D536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38212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0">
                <a:solidFill>
                  <a:srgbClr val="F7F7F5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7F7F5"/>
                </a:solidFill>
                <a:latin typeface="Arial"/>
                <a:ea typeface="Arial"/>
                <a:cs typeface="Arial"/>
              </a:rPr>
              <a:t>JSON reales, demo de streaming y tests que cortan el stream en cualquier posición.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0D975B-C351-40C3-B11F-BA924A83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3347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8FF00"/>
                </a:solidFill>
                <a:latin typeface="Arial"/>
                <a:ea typeface="Arial"/>
                <a:cs typeface="Arial"/>
              </a:rPr>
              <a:t>Enlace en la publicación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205F1-B615-4954-8D77-A7CE8F80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06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>
                <a:solidFill>
                  <a:srgbClr val="A1A1A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A1A1AA"/>
                </a:solidFill>
                <a:latin typeface="Menlo"/>
                <a:ea typeface="Menlo"/>
                <a:cs typeface="Menlo"/>
              </a:rPr>
              <a:t>09 / 09</a:t>
            </a:r>
          </a:p>
        </p:txBody>
      </p:sp>
    </p:spTree>
    <p:extLst>
      <p:ext uri="{BB962C8B-B14F-4D97-AF65-F5344CB8AC3E}">
        <p14:creationId xmlns:p14="http://schemas.microsoft.com/office/powerpoint/2010/main" val="19516089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2026-09-21T09:22:11.0080000Z</dcterms:created>
  <dcterms:modified xsi:type="dcterms:W3CDTF">2026-09-21T09:22:11.0080000Z</dcterms:modified>
</coreProperties>
</file>